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172A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F172A"/>
                </a:solidFill>
                <a:latin typeface="Arial"/>
              </a:rPr>
              <a:t>w8a16 builds on the Hexagon NPU, all layers on the NPU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(ms)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MoveNet · X Elite</c:v>
                  </c:pt>
                  <c:pt idx="1">
                    <c:v>RTMPose · X Elite</c:v>
                  </c:pt>
                  <c:pt idx="2">
                    <c:v>MoveNet · X2 Elite</c:v>
                  </c:pt>
                  <c:pt idx="3">
                    <c:v>RTMPose · X2 Elite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1.054</c:v>
                </c:pt>
                <c:pt idx="1">
                  <c:v>1.836</c:v>
                </c:pt>
                <c:pt idx="2">
                  <c:v>0.44</c:v>
                </c:pt>
                <c:pt idx="3">
                  <c:v>0.785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ms per frame (lower is better)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SNAPDRAGON AI LAB · BUILD &amp; PRESENT CHALLENGE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75569"/>
                </a:solidFill>
              </a:rPr>
              <a:t>पुनर्गति · movement, restored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physiotherapist's eyes at home, running on the Snapdragon NPU.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70332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On-device pose tracking, clinical screening tests and coaching in 7 Indian languages. Offline, private, and with no subscription.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7607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Sachin</a:t>
            </a:r>
            <a:pPr indent="0" marL="0">
              <a:buNone/>
            </a:pPr>
            <a:r>
              <a:rPr lang="en-US" sz="140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·  github.com/Sachin0496/punargati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05156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pic>
        <p:nvPicPr>
          <p:cNvPr id="10" name="Image 0" descr="/Users/sachin/Development/snapdragon/punargati/deck/assets/coach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143000"/>
            <a:ext cx="5257800" cy="215495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355080" y="342900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squat coaching: skeleton, knee angles, rep counter and form cues.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355080" y="3931920"/>
            <a:ext cx="185166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55080" y="3931920"/>
            <a:ext cx="18516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Qualcomm AI Hub MoveNet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79892" y="393192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79892" y="393192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Hexagon NPU · QNN EP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998964" y="3931920"/>
            <a:ext cx="89154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998964" y="3931920"/>
            <a:ext cx="8915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LLM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355080" y="4334256"/>
            <a:ext cx="102870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55080" y="4334256"/>
            <a:ext cx="102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languages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456932" y="4334256"/>
            <a:ext cx="75438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56932" y="4334256"/>
            <a:ext cx="7543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Offline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 happens at home: unsupervised, uncounted, unmeasured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28.7%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822960" y="27889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pooled prevalence of knee osteoarthritis in Indian studies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Pal et al., Indian J Orthop 2016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97680" y="173736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101 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572000" y="27889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Indians with diabetes. About 13% of them develop frozen shoulder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3703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ICMR-INDIAB 2023 · Zreik et al. 2016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73736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in 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321040" y="27889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adults over 65 fall every year, and fall-risk screening needs a trained assessor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0" y="3703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Falls Prevention Report 2007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52628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gets an exercise sheet and a weekly visit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 rot="5400000">
            <a:off x="4114800" y="4892040"/>
            <a:ext cx="146304" cy="237744"/>
          </a:xfrm>
          <a:prstGeom prst="rtTriangl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97680" y="45262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52628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Nobody counts reps, checks form or measures range at home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 rot="5400000">
            <a:off x="7863840" y="4892040"/>
            <a:ext cx="146304" cy="237744"/>
          </a:xfrm>
          <a:prstGeom prst="rtTriangl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45262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452628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physio finds out a week later, or never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ON-DEVICE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camera in someone's bedroom must never stream to a server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377440" y="17830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AI coach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0" y="1783080"/>
            <a:ext cx="50566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on a Snapdragon PC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37960" y="2267712"/>
            <a:ext cx="5102352" cy="86868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860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Privacy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377440" y="228600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video of patients goes to a server: a DPDP-Act risk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75120" y="2286000"/>
            <a:ext cx="4873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Frames live in RAM for ~1 ms on the NPU. Only numbers are saved; there's a skeleton-only privacy view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37960" y="3227832"/>
            <a:ext cx="5102352" cy="86868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246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Connectivity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377440" y="324612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fps upload fails in tier-2/3 towns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75120" y="3246120"/>
            <a:ext cx="4873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Fully offline. Models ship inside the repo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37960" y="4187952"/>
            <a:ext cx="5102352" cy="86868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2062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377440" y="420624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Per-minute inference makes free home rehab impossible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75120" y="4206240"/>
            <a:ext cx="4873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One-time laptop, unlimited sessions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37960" y="5148072"/>
            <a:ext cx="5102352" cy="86868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1663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377440" y="516636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network round trip breaks rep timing and live cues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675120" y="5166360"/>
            <a:ext cx="4873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~1 ms pose inference and instant spoken feedback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turns a Snapdragon laptop into a physiotherapist's eyes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Coach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prescribed exercises. Reps per side, range of motion, tempo and a quality score for every rep. Spoken form corrections.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3355848" y="1783080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30168" y="2011680"/>
            <a:ext cx="566928" cy="56692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630168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630168" y="31546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30-s chair stand (CDC fall-risk norms), single-leg balance, and shoulder / knee range of motion against AAOS reference values.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163056" y="1783080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011680"/>
            <a:ext cx="566928" cy="56692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37376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37376" y="31546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 curves per joint, day streaks, and a printable report the patient hands to the physio.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8970264" y="1783080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244584" y="2011680"/>
            <a:ext cx="566928" cy="56692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44584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244584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&amp; ask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244584" y="31546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Paste the physio's note to get a one-tap plan. The local LLM answers questions from your own data and escalates red flags.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548640" y="5440680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Coaching languages: English, Hindi, Tamil, Telugu, Kannada, Marathi and Bengali, with offline Windows voices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COACHING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rep measured: angle, tempo and quality, plus a spoken correction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863840" cy="3090672"/>
          </a:xfrm>
          <a:prstGeom prst="roundRect">
            <a:avLst>
              <a:gd name="adj" fmla="val 2367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pic>
        <p:nvPicPr>
          <p:cNvPr id="8" name="Image 0" descr="/Users/sachin/Development/snapdragon/punargati/deck/assets/demo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64792"/>
            <a:ext cx="7717536" cy="294231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686800" y="1764792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69680" y="1691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Goniometer-style joint angles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869680" y="203911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Knee, hip, shoulder, elbow and trunk, computed in isotropic pixel space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686800" y="2633472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69680" y="2560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Per-rep quality score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869680" y="290779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reached × tempo × form, so a partial rep gets "go a little further"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86800" y="3502152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69680" y="3429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View-aware form rules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869680" y="377647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Knees caving in (front view), chest dropping (side view), elbow bending, shrugging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686800" y="4370832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869680" y="42976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Privacy view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869680" y="464515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Hide the room and show only the skeleton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48640" y="608076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on real footage: 3/3 stands on the CDC's own chair-stand video (front view) and 2/2 squats on the demo clip. Both are regression tests.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SCREENING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fall-risk and mobility tests, scored against published norms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669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8288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30-second chair stand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219456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Counts full stands in 30 s and flags fall risk using CDC STEADI thresholds by age and sex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5669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0632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Single-leg balance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342900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Times the stance until the foot touches down. Under 5 s flags fall risk (Vellas 1997); age means from Springer 2007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5669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2976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of motion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77240" y="466344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Shoulder flexion and abduction, knee flexion. Median-of-5 frames, compared with AAOS 180° / 180° / 135°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7512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30-s chair stand: stands that indicate fall risk (CDC STEADI)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14884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Men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Women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60–64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65–69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70–74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75–79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80–84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85–89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90–94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7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6675120" y="534924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Automatic countdown, timing and counting. The result card compares the score with the patient's age band.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browser sees, the NPU understands, and nothing leaves the PC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834640" cy="4160520"/>
          </a:xfrm>
          <a:prstGeom prst="roundRect">
            <a:avLst>
              <a:gd name="adj" fmla="val 1935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75564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UI (OFFLINE)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11880" y="1691640"/>
            <a:ext cx="4892040" cy="4160520"/>
          </a:xfrm>
          <a:prstGeom prst="roundRect">
            <a:avLst>
              <a:gd name="adj" fmla="val 1319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1755648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ENGINE · 127.0.0.1 · numpy + onnxruntime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86800" y="1691640"/>
            <a:ext cx="2953512" cy="4160520"/>
          </a:xfrm>
          <a:prstGeom prst="roundRect">
            <a:avLst>
              <a:gd name="adj" fmla="val 1858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23960" y="1755648"/>
            <a:ext cx="26791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INTELLIGENCE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219456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1945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Webcam / video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getUserMedia, 30 fps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31520" y="324612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2461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Crop to person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192×192 RGBA, tracked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31520" y="480060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006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 + voice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skeleton, angle arcs, cues in 7 languages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965960" y="2926080"/>
            <a:ext cx="914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794760" y="219456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86200" y="219456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· Qualcomm AI Hub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w8a16 on Hexagon NPU (QNN EP, HTP), ~1 ms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172200" y="219456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219456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Crop tracker + One-Euro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stable keypoints, next crop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72200" y="342900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3640" y="342900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Goniometry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knee · hip · shoulder · elbow · trunk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3794760" y="342900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86200" y="34290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tests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CDC · Springer · AAOS norms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172200" y="466344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3640" y="466344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Reps + form rules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per-side hysteresis, quality score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 flipV="1">
            <a:off x="3200400" y="2651760"/>
            <a:ext cx="594360" cy="9601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035040" y="2651760"/>
            <a:ext cx="13716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242048" y="3108960"/>
            <a:ext cx="914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H="1">
            <a:off x="6035040" y="3886200"/>
            <a:ext cx="13716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242048" y="4343400"/>
            <a:ext cx="914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H="1">
            <a:off x="3200400" y="5212080"/>
            <a:ext cx="297180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H="1">
            <a:off x="3200400" y="4343400"/>
            <a:ext cx="1005840" cy="59436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869680" y="46634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61120" y="466344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./data (JSON)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angles, reps, scores. Never frames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8869680" y="338328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61120" y="33832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LLM (optional)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Qwen3-4B Q4_0 · llama.cpp on Oryon CPU, or GenieX / Foundry Local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8869680" y="219456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61120" y="219456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Summaries · plan · Q&amp;A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templates if no LLM; red-flag safety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321040" y="5120640"/>
            <a:ext cx="54864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10168128" y="4389120"/>
            <a:ext cx="914" cy="2743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10168128" y="3108960"/>
            <a:ext cx="914" cy="2743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48640" y="608076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3 native dependencies (numpy, onnxruntime, onnxruntime-qnn), all with Windows-on-ARM64 wheels. No OpenCV, PyTorch or npm build.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SNAPDRAGON COMPUTE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AI Hub pose models run on the Hexagon NPU in under 3 ms per frame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69164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3035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Qualcomm AI Hub device profiles, v0.63.0 (ONNX). The cascade uses &lt;10% of the 33 ms frame budget at 30 fps.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0" y="1691640"/>
            <a:ext cx="5056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766560" y="176479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Pose cascade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0" y="176479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Hexagon NPU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766560" y="210312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tracks and RTMPose-WholeBody refines (133 keypoints, feet). onnxruntime-qnn, strict 100% offload, context cache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83680" y="2926080"/>
            <a:ext cx="5056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766560" y="299923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 / fallback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144000" y="299923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Adreno GPU · CPU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766560" y="333756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model through the QNN GPU backend or the ORT CPU EP, with the fallback reason shown in the UI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583680" y="4160520"/>
            <a:ext cx="5056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423367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LLM, after a session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144000" y="423367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Oryon CPU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766560" y="457200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llama.cpp Q4_0 with i8mm repack. It decoded faster than the NPU/GPU backends in our earlier X Elite tests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83680" y="5440680"/>
            <a:ext cx="5056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Built-in benchmark (NPU vs GPU vs CPU): latency, CPU load at 30 fps, and battery watts on the user's own device.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IMPLEMENTATION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Engineered to be accurate, provable, and impossible to break in a demo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874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Provable NPU offload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30428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Sessions are built with session.disable_cpu_ep_fallback=1. Success means every operator is on the Hexagon NPU.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26280" y="1874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Two-model NPU cascade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26280" y="230428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tracks the person. RTMPose-WholeBody re-estimates 133 keypoints on its box. Exact uint16 I/O from AI Hub metadata.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46720" y="173736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5320" y="1874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from small models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75320" y="230428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crop tracking keeps the person large; One-Euro filtering in body-scale units.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3840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Honest rep counting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" y="427024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Per-side hysteresis state machines, duration/timeout guards, form rules that must persist 4 frames.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297680" y="37033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26280" y="3840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View-independent tests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526280" y="427024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Self-calibrating shoulder-height signal for sit/stand. 3/3 stands on the CDC's own front-view video.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046720" y="37033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75320" y="3840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dead in a demo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275320" y="427024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NPU → GPU → CPU ladder, a QNN 1.x fallback route, LLM-free fallbacks, 31 tests incl. real video.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DEPLOYMENT &amp; ACCESSIBILITY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script to install, one click to run, and no internet after that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47088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47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80160" y="17373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scripts\setup.ps1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210312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Finds or installs native ARM64 Python, installs 3 packages, verifies AI Hub models by SHA-256, and self-tests the NPU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035808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35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PunarGati.bat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Double-click. The browser opens on 127.0.0.1 and the NPU badge shows the live latency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224528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24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4114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scripts\setup-llm.ps1 (optional)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44805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llama.cpp win-arm64 + Qwen3-4B Q4_0. Auto-detected, or use GenieX, Foundry Local or LM Studio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534924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 on every push by CI on a native Windows-on-ARM64 runner: install script, QNN plugin + fallbacks, local-LLM scripts and all tests.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75120" y="1737360"/>
            <a:ext cx="4965192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903720" y="18288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Accessible by default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949440" y="2450592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69480" y="233172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coaching languages + Hindi interface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949440" y="2926080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69480" y="28072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Privacy view: skeleton only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949440" y="3401568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69480" y="3282696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on any laptop (CPU fallback)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949440" y="3877056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9480" y="3758184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Bundled demo clip, no webcam needed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949440" y="4352544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69480" y="4233672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account, no subscription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949440" y="4828032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69480" y="47091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stays in ./data on the PC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&amp;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hands, feet and voice, all on the same NPU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10545775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194560"/>
            <a:ext cx="274320" cy="274320"/>
          </a:xfrm>
          <a:prstGeom prst="ellipse">
            <a:avLst/>
          </a:prstGeom>
          <a:solidFill>
            <a:srgbClr val="0F766E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Two-model NPU pose cascade, 9 exercises, 5 tests, reports, local LLM, 7 languages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93008" y="219456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55848" y="265176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Hand-focused RTMPose crop for wrist and finger ROM (stroke and hand therapy)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0216" y="219456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163056" y="265176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Whisper on the NPU for hands-free "next / stop / pain" commands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07424" y="219456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0264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970264" y="265176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against a goniometer with a physio clinic; FHIR/ABDM export; Arduino UNO Q haptic rep band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46177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supervised-quality home exercise, visible progress, early fall-risk flags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29768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Physiotherapists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26280" y="46177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adherence and ROM trends between visits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04672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532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Tier-2/3 India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75320" y="46177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 with no connectivity and no cloud bill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Private. Offline. Multilingual. Measured.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puts a physiotherapist's eyes in every home that has a Snapdragon PC.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github.com/Sachin0496/punargati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via Qualcomm AI Hub · ONNX Runtime QNN EP · llama.cpp · Qwen3 · MIT licensed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PunarGati: on-device AI physiotherapy coach for Snapdragon PCs</dc:title>
  <dc:subject>PptxGenJS Presentation</dc:subject>
  <dc:creator>Sachin</dc:creator>
  <cp:lastModifiedBy>Sachin</cp:lastModifiedBy>
  <cp:revision>1</cp:revision>
  <dcterms:created xsi:type="dcterms:W3CDTF">2026-09-29T19:16:53Z</dcterms:created>
  <dcterms:modified xsi:type="dcterms:W3CDTF">2026-09-29T19:16:53Z</dcterms:modified>
</cp:coreProperties>
</file>